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0"/>
            <a:ext cx="73152" cy="5143500"/>
          </a:xfrm>
          <a:prstGeom prst="rect">
            <a:avLst/>
          </a:prstGeom>
          <a:solidFill>
            <a:srgbClr val="1A4A8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05840" y="2331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Customer &amp; API Portal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05840" y="3063240"/>
            <a:ext cx="594360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&amp; Solution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SAP BTP  ·  S/4HANA  ·  Integration Suite  ·  Snowflake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0284C7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TPAPI?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B2B digital commerce and API platform that automates the complete order-to-cash cycle — enabling customers to self-serve without requiring a sales rep for every transaction.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874520"/>
            <a:ext cx="2651760" cy="1143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74520"/>
            <a:ext cx="73152" cy="1143000"/>
          </a:xfrm>
          <a:prstGeom prst="rect">
            <a:avLst/>
          </a:prstGeom>
          <a:solidFill>
            <a:srgbClr val="0284C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1762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place &amp; manage orders directly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72968" y="1874520"/>
            <a:ext cx="2651760" cy="1143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1874520"/>
            <a:ext cx="73152" cy="114300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17627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1304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Automation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813048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E-invoicing, payment tracking, disputes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25896" y="1874520"/>
            <a:ext cx="2651760" cy="1143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25896" y="1874520"/>
            <a:ext cx="73152" cy="11430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1762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65976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Visibility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665976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shipment &amp; delivery tracking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200400"/>
            <a:ext cx="2651760" cy="1143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200400"/>
            <a:ext cx="73152" cy="11430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50215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6012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REST/OData APIs for ERP-to-ERP flows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72968" y="3200400"/>
            <a:ext cx="2651760" cy="1143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72968" y="3200400"/>
            <a:ext cx="73152" cy="11430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50215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13048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Self-Service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813048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portal, API keys, playground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25896" y="3200400"/>
            <a:ext cx="2651760" cy="1143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25896" y="3200400"/>
            <a:ext cx="73152" cy="1143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50215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65976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Automation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665976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&amp; approval workflow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28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</a:t>
            </a:r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Solution Overview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400800" y="49011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960120"/>
            <a:ext cx="88696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</a:t>
            </a:r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Architecture Diagram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0" y="49011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91440" cy="65836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60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(Cloud Foundry / Kyma)  ·  React / SAP Fiori UI5  ·  SAP IAS / OAuth 2.0  ·  SAP BTP Workflow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8595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64792"/>
            <a:ext cx="91440" cy="6583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19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&amp; API Mgmt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Integration Suite  ·  API Management  ·  Cloud Integration (CPI)  ·  Event Mesh  ·  Open Connectors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23744"/>
            <a:ext cx="8595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23744"/>
            <a:ext cx="91440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ERP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8437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 ·  SD / MM / FI Modules  ·  OData V4  ·  BAPIs  ·  Business Events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82696"/>
            <a:ext cx="8595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82696"/>
            <a:ext cx="91440" cy="6583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602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DWH  ·  HANA DB Sidecar  ·  SAP Data Intelligence (CDC)  ·  Real-Time Replication (SLT)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8595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41648"/>
            <a:ext cx="91440" cy="6583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96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Observability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361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Azure DevOps  ·  SAP CI/CD Service  ·  Dynatrace / SAP Cloud ALM  ·  SAP Alert Notification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</a:t>
            </a:r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Technology Stack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49011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42416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Capabilities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572768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order &amp; account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947672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92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 placement &amp; quick reorder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322576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templates for repeat purchases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697480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642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with real-time pricing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072384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invoice download (PDF)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3447288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3924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&amp; dispute submission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3822192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shipment tracking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4197096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142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 &amp; POD access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114800" cy="3749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042416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Developer Portal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19472" y="157276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catalog with OpenAPI/Swagger docs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19472" y="19476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1892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sandbox playground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19472" y="232257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API key issuance &amp; rotation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19472" y="269748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102352" y="2642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analytics &amp; quota dashboards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19472" y="307238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102352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endpoint registration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19472" y="344728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102352" y="33924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subscription management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19472" y="382219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5102352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samples in multiple languages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19472" y="419709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102352" y="4142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&amp; production environments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</a:t>
            </a:r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Portal Features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49011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API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651760" cy="34747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from Snowflake / HANA DB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27248" y="10972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7248" y="1097280"/>
            <a:ext cx="26517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18688" y="1143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84448" y="1143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18688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/orders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18688" y="19202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S/4HANA via CPI iFlow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0176" y="10972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0176" y="1097280"/>
            <a:ext cx="265176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071616" y="1143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37376" y="1143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71616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/orders/{id}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71616" y="19202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from data layer within seconds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80360"/>
            <a:ext cx="26517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2926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Shipment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355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/orders/{id}/shipments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703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with carrier tracking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27248" y="28803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27248" y="2880360"/>
            <a:ext cx="265176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3218688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84448" y="2926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Invoice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18688" y="3355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/invoices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18688" y="3703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PDF from S/4HANA FI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80176" y="28803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80176" y="2880360"/>
            <a:ext cx="26517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6071616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37376" y="2926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Payment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71616" y="3355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/invoices/{id}/payment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71616" y="3703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payment gateway integration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26080" y="192024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79008" y="192024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70332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79008" y="370332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</a:t>
            </a:r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Order-to-Cash Flow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0" y="49011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INTEGRATION SUITE — MIDDLEWARE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645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06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with OAuth, JWT, rate limiting, threat protection, transformation policies, and developer analytics. All APIs exposed through a single managed gateway endpoint.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60520" cy="1645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4160520" cy="3657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06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 (CPI)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iFlow-based integration for transactional operations: order creation, invoice posting, delivery confirmation. Handles OData/BAPI mapping, error handling, and retry logic for S/4HANA.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60520" cy="1645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41605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Mesh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3832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pub/sub for business events: Order Confirmed, Goods Issued, Invoice Posted, Payment Received. Customer systems subscribe via webhooks or AMQP — no polling required.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60520" cy="1645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416052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Connectors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adapters for payment gateways (Stripe/Adyen), logistics carriers (FedEx/UPS/DHL), CRM (Salesforce/SAP Sales Cloud), and tax engines (Vertex/Avalara).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</a:t>
            </a:r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Integration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49011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— READ / WRITE SEPARATION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881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 — S/4HANA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all transactional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920240"/>
            <a:ext cx="73152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/orders → SD Sales Order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359152"/>
            <a:ext cx="73152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/invoices/payment → FI Payment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798064"/>
            <a:ext cx="73152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98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 → SD Delivery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236976"/>
            <a:ext cx="73152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36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issue → MM Inventory update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675888"/>
            <a:ext cx="73152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75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posting → FI Document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73152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credit memo processing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051560"/>
            <a:ext cx="4023360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0881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PATH — Snowflake / HANA DB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Read-optimized for high-performance APIs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10912" y="1920240"/>
            <a:ext cx="7315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 — order history &amp; 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10912" y="2359152"/>
            <a:ext cx="7315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/products — catalog &amp; pricing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10912" y="2798064"/>
            <a:ext cx="7315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798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/orders/{id}/shipments — tracking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10912" y="3236976"/>
            <a:ext cx="7315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3236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/invoices — invoice history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10912" y="3675888"/>
            <a:ext cx="7315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675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/customers/{id}/account — balance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10912" y="4114800"/>
            <a:ext cx="7315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 queries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8620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 / SLT)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97680" y="219456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297680" y="320040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</a:t>
            </a:r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Data Architecture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49011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645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3657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06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600200"/>
            <a:ext cx="91440" cy="914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IAS — SSO via SAML 2.0 / OIDC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" y="1874520"/>
            <a:ext cx="91440" cy="914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enforced for all portal logins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148840"/>
            <a:ext cx="91440" cy="914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03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Client Credentials for API M2M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423160"/>
            <a:ext cx="91440" cy="914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for high-security B2B integrations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051560"/>
            <a:ext cx="4160520" cy="1645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51560"/>
            <a:ext cx="41605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106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73752" y="160020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&amp; token introspection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73752" y="187452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quota enforcement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3752" y="214884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103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Top-10 threat protection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73752" y="242316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+ IP allowlisting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4160520" cy="1645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926080"/>
            <a:ext cx="416052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" y="347472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at rest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" y="37490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encryption in transit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" y="402336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data masking in API responses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" y="429768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for all access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926080"/>
            <a:ext cx="4160520" cy="1645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926080"/>
            <a:ext cx="41605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73752" y="34747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73752" y="37490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principle enforced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73752" y="402336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isolation per tenant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73752" y="429768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audit logging in BTP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</a:t>
            </a:r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Security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0" y="49011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IMPLEMENTATION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5029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241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25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Core Portal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938528"/>
            <a:ext cx="91440" cy="914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8928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environment setup &amp; provisioning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487168"/>
            <a:ext cx="91440" cy="914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OData API exposure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3035808"/>
            <a:ext cx="91440" cy="914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9900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(orders, invoices, shipments)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584448"/>
            <a:ext cx="91440" cy="914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538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SSO (SAP IAS)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4133088"/>
            <a:ext cx="91440" cy="914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4087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API Gateway configuration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41448" y="100584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41448" y="1005840"/>
            <a:ext cx="20116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2487168" y="10241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87168" y="1225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Portal &amp; Onboarding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87168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51176" y="193852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2697480" y="18928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Developer Portal with Swagger playground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51176" y="248716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2697480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API key management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51176" y="303580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29900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workflow automation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51176" y="358444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2697480" y="3538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 HANA DB Sidecar + replication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08576" y="100584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08576" y="1005840"/>
            <a:ext cx="20116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4654296" y="10241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54296" y="1225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APIs &amp; Events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54296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18304" y="193852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18928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order-to-cash REST API suite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18304" y="248716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4864608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Mesh &amp; webhook delivery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18304" y="303580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29900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18304" y="35844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4864608" y="3538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provider tracking &amp; EDI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75704" y="100584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75704" y="1005840"/>
            <a:ext cx="201168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6821424" y="10241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21424" y="1225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AI &amp; Ecosystem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21424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13–16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85432" y="193852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1" name="Text 49"/>
          <p:cNvSpPr/>
          <p:nvPr/>
        </p:nvSpPr>
        <p:spPr>
          <a:xfrm>
            <a:off x="7031736" y="18928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analytics &amp; BI dashboards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85432" y="248716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3" name="Text 51"/>
          <p:cNvSpPr/>
          <p:nvPr/>
        </p:nvSpPr>
        <p:spPr>
          <a:xfrm>
            <a:off x="7031736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demand forecasting on Snowflake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85432" y="303580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5" name="Text 53"/>
          <p:cNvSpPr/>
          <p:nvPr/>
        </p:nvSpPr>
        <p:spPr>
          <a:xfrm>
            <a:off x="7031736" y="29900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Connectors expansion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85432" y="358444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7" name="Text 55"/>
          <p:cNvSpPr/>
          <p:nvPr/>
        </p:nvSpPr>
        <p:spPr>
          <a:xfrm>
            <a:off x="7031736" y="3538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&amp; multi-currency/language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delivery: 12–16 months to full platform maturity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</a:t>
            </a:r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Roadmap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00800" y="49011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0"/>
            <a:ext cx="73152" cy="5143500"/>
          </a:xfrm>
          <a:prstGeom prst="rect">
            <a:avLst/>
          </a:prstGeom>
          <a:solidFill>
            <a:srgbClr val="1A4A8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required to move from plan to execution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438912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898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4752" y="13624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— Formal review with SAP BTP and S/4HANA technical leads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1874520"/>
            <a:ext cx="438912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385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44752" y="19110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API Assessment — Identify all required OData services and BAPIs for Phase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423160"/>
            <a:ext cx="438912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4871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44752" y="24597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Decision — Evaluate Snowflake vs HANA DB Sidecar (licensing, skills, performance)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2971800"/>
            <a:ext cx="438912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0358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44752" y="30083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— Portal wireframes and customer stakeholder prototype validation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520440"/>
            <a:ext cx="438912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844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44752" y="3557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Provisioning — Enable IAS, Integration Suite, API Management, Workflow services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069080"/>
            <a:ext cx="438912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330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44752" y="41056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 — Charter, team assignments, and Sprint 1 planning for Phase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6634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TPAPI — Powering B2B Commerce Through Automation and API-First Design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TPAPI — B2B Customer &amp; API Portal</dc:title>
  <dc:subject>PptxGenJS Presentation</dc:subject>
  <dc:creator>TPAPI Architecture Team</dc:creator>
  <cp:lastModifiedBy>TPAPI Architecture Team</cp:lastModifiedBy>
  <cp:revision>1</cp:revision>
  <dcterms:created xsi:type="dcterms:W3CDTF">2026-03-07T21:21:45Z</dcterms:created>
  <dcterms:modified xsi:type="dcterms:W3CDTF">2026-03-07T21:21:45Z</dcterms:modified>
</cp:coreProperties>
</file>